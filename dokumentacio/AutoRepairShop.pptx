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sldIdLst>
    <p:sldId id="256" r:id="rId5"/>
    <p:sldId id="257" r:id="rId6"/>
    <p:sldId id="258" r:id="rId7"/>
    <p:sldId id="259" r:id="rId8"/>
    <p:sldId id="273" r:id="rId9"/>
    <p:sldId id="261" r:id="rId10"/>
    <p:sldId id="262" r:id="rId11"/>
    <p:sldId id="271" r:id="rId12"/>
    <p:sldId id="263" r:id="rId13"/>
    <p:sldId id="264" r:id="rId14"/>
    <p:sldId id="265" r:id="rId15"/>
    <p:sldId id="266" r:id="rId16"/>
    <p:sldId id="267" r:id="rId17"/>
    <p:sldId id="268" r:id="rId18"/>
    <p:sldId id="270" r:id="rId19"/>
    <p:sldId id="269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8" autoAdjust="0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66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4070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F18D3-9F1C-A227-D9F5-D32F7222B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E6EEE8-6C9E-FA10-92FF-B5071383DE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79A4B7-0F85-E3F6-45CF-406D713FE6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E240A-8C29-5517-03D1-B28B33D514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6576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34975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502920" y="1627632"/>
            <a:ext cx="109728" cy="1920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Repair Shop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Application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3337560"/>
            <a:ext cx="1271016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777240" y="3337560"/>
            <a:ext cx="1271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57984" y="3337560"/>
            <a:ext cx="2578608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2157984" y="333756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3337560"/>
            <a:ext cx="91440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4846320" y="3337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70448" y="3337560"/>
            <a:ext cx="676656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/>
          <p:nvPr/>
        </p:nvSpPr>
        <p:spPr>
          <a:xfrm>
            <a:off x="5870448" y="3337560"/>
            <a:ext cx="676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56832" y="3337560"/>
            <a:ext cx="1389888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Text 13"/>
          <p:cNvSpPr/>
          <p:nvPr/>
        </p:nvSpPr>
        <p:spPr>
          <a:xfrm>
            <a:off x="6656832" y="333756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Szikora Bálint  ·  Borsos Imre  ·  Class 13/C  ·  Bolyai János Technikum  ·  2026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0" y="548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765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376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Built What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63464" y="408536"/>
            <a:ext cx="4206240" cy="4251960"/>
          </a:xfrm>
          <a:prstGeom prst="rect">
            <a:avLst/>
          </a:prstGeom>
          <a:solidFill>
            <a:srgbClr val="111111"/>
          </a:solidFill>
          <a:ln w="6350">
            <a:solidFill>
              <a:srgbClr val="11111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392064" y="609704"/>
            <a:ext cx="457200" cy="4572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392064" y="609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8136" y="6097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Szikora Bálint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8136" y="9114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2064" y="1258928"/>
            <a:ext cx="3749040" cy="228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Shape 8"/>
          <p:cNvSpPr/>
          <p:nvPr/>
        </p:nvSpPr>
        <p:spPr>
          <a:xfrm>
            <a:off x="392064" y="1414376"/>
            <a:ext cx="3749040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510936" y="1414376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&amp; SQL schema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2064" y="1944728"/>
            <a:ext cx="3749040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/>
          <p:nvPr/>
        </p:nvSpPr>
        <p:spPr>
          <a:xfrm>
            <a:off x="510936" y="194472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+ bcrypt hashing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2064" y="2475080"/>
            <a:ext cx="3749040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Text 13"/>
          <p:cNvSpPr/>
          <p:nvPr/>
        </p:nvSpPr>
        <p:spPr>
          <a:xfrm>
            <a:off x="510936" y="24750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logic &amp; availability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2064" y="3005432"/>
            <a:ext cx="3749040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Text 15"/>
          <p:cNvSpPr/>
          <p:nvPr/>
        </p:nvSpPr>
        <p:spPr>
          <a:xfrm>
            <a:off x="510936" y="300543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routes (Express 5)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2064" y="3535784"/>
            <a:ext cx="3749040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Text 17"/>
          <p:cNvSpPr/>
          <p:nvPr/>
        </p:nvSpPr>
        <p:spPr>
          <a:xfrm>
            <a:off x="510936" y="353578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(ws) real-time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9744" y="408536"/>
            <a:ext cx="4206240" cy="4251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1" name="Shape 19"/>
          <p:cNvSpPr/>
          <p:nvPr/>
        </p:nvSpPr>
        <p:spPr>
          <a:xfrm>
            <a:off x="4918344" y="609704"/>
            <a:ext cx="457200" cy="4572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2" name="Text 20"/>
          <p:cNvSpPr/>
          <p:nvPr/>
        </p:nvSpPr>
        <p:spPr>
          <a:xfrm>
            <a:off x="4918344" y="609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⚛️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94416" y="6097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Borsos Imre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94416" y="9114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Engineer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18344" y="1258928"/>
            <a:ext cx="374904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6" name="Shape 24"/>
          <p:cNvSpPr/>
          <p:nvPr/>
        </p:nvSpPr>
        <p:spPr>
          <a:xfrm>
            <a:off x="4918344" y="1414376"/>
            <a:ext cx="374904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7" name="Text 25"/>
          <p:cNvSpPr/>
          <p:nvPr/>
        </p:nvSpPr>
        <p:spPr>
          <a:xfrm>
            <a:off x="5037216" y="1414376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component architecture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18344" y="1944728"/>
            <a:ext cx="374904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9" name="Text 27"/>
          <p:cNvSpPr/>
          <p:nvPr/>
        </p:nvSpPr>
        <p:spPr>
          <a:xfrm>
            <a:off x="5037216" y="194472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UI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18344" y="2475080"/>
            <a:ext cx="374904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1" name="Text 29"/>
          <p:cNvSpPr/>
          <p:nvPr/>
        </p:nvSpPr>
        <p:spPr>
          <a:xfrm>
            <a:off x="5037216" y="24750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AuthContext + routing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918344" y="3005432"/>
            <a:ext cx="374904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3" name="Text 31"/>
          <p:cNvSpPr/>
          <p:nvPr/>
        </p:nvSpPr>
        <p:spPr>
          <a:xfrm>
            <a:off x="5037216" y="300543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4 styling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918344" y="3535784"/>
            <a:ext cx="374904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5" name="Text 33"/>
          <p:cNvSpPr/>
          <p:nvPr/>
        </p:nvSpPr>
        <p:spPr>
          <a:xfrm>
            <a:off x="5037216" y="353578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11480" y="481594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Tools: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600200" y="4779368"/>
            <a:ext cx="1554480" cy="27432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8" name="Text 36"/>
          <p:cNvSpPr/>
          <p:nvPr/>
        </p:nvSpPr>
        <p:spPr>
          <a:xfrm>
            <a:off x="1600200" y="47793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337560" y="4779368"/>
            <a:ext cx="1554480" cy="27432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0" name="Text 38"/>
          <p:cNvSpPr/>
          <p:nvPr/>
        </p:nvSpPr>
        <p:spPr>
          <a:xfrm>
            <a:off x="3337560" y="47793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74920" y="4779368"/>
            <a:ext cx="1554480" cy="27432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2" name="Text 40"/>
          <p:cNvSpPr/>
          <p:nvPr/>
        </p:nvSpPr>
        <p:spPr>
          <a:xfrm>
            <a:off x="5074920" y="47793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812280" y="4779368"/>
            <a:ext cx="1554480" cy="27432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4" name="Text 42"/>
          <p:cNvSpPr/>
          <p:nvPr/>
        </p:nvSpPr>
        <p:spPr>
          <a:xfrm>
            <a:off x="6812280" y="47793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nodemon + tsx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Solved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384048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Before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3840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411480" y="1216152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📞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121615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Phone-only appointment booking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975104"/>
            <a:ext cx="3840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/>
          <p:nvPr/>
        </p:nvSpPr>
        <p:spPr>
          <a:xfrm>
            <a:off x="411480" y="2020824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2020824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data stored inconsistently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779776"/>
            <a:ext cx="3840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/>
          <p:nvPr/>
        </p:nvSpPr>
        <p:spPr>
          <a:xfrm>
            <a:off x="411480" y="2825496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0120" y="2825496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online repair status tracking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3584448"/>
            <a:ext cx="3840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6" name="Text 14"/>
          <p:cNvSpPr/>
          <p:nvPr/>
        </p:nvSpPr>
        <p:spPr>
          <a:xfrm>
            <a:off x="411480" y="3630168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60120" y="363016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centralised admin overview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79392" y="2331720"/>
            <a:ext cx="585216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Text 17"/>
          <p:cNvSpPr/>
          <p:nvPr/>
        </p:nvSpPr>
        <p:spPr>
          <a:xfrm>
            <a:off x="4261104" y="2322576"/>
            <a:ext cx="585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983480" y="685800"/>
            <a:ext cx="3840480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1" name="Text 19"/>
          <p:cNvSpPr/>
          <p:nvPr/>
        </p:nvSpPr>
        <p:spPr>
          <a:xfrm>
            <a:off x="4983480" y="6858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After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83480" y="1170432"/>
            <a:ext cx="3840480" cy="67665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3" name="Text 21"/>
          <p:cNvSpPr/>
          <p:nvPr/>
        </p:nvSpPr>
        <p:spPr>
          <a:xfrm>
            <a:off x="5074920" y="1216152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623560" y="121615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calendar-based booking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83480" y="1975104"/>
            <a:ext cx="3840480" cy="67665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6" name="Text 24"/>
          <p:cNvSpPr/>
          <p:nvPr/>
        </p:nvSpPr>
        <p:spPr>
          <a:xfrm>
            <a:off x="5074920" y="2020824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🚗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623560" y="2020824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registry per user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83480" y="2779776"/>
            <a:ext cx="3840480" cy="67665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9" name="Text 27"/>
          <p:cNvSpPr/>
          <p:nvPr/>
        </p:nvSpPr>
        <p:spPr>
          <a:xfrm>
            <a:off x="5074920" y="2825496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623560" y="2825496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status updates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983480" y="3621024"/>
            <a:ext cx="3840480" cy="67665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2" name="Text 30"/>
          <p:cNvSpPr/>
          <p:nvPr/>
        </p:nvSpPr>
        <p:spPr>
          <a:xfrm>
            <a:off x="5074920" y="3648456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bg2"/>
                </a:solidFill>
              </a:rPr>
              <a:t>🖥</a:t>
            </a:r>
          </a:p>
        </p:txBody>
      </p:sp>
      <p:sp>
        <p:nvSpPr>
          <p:cNvPr id="33" name="Text 31"/>
          <p:cNvSpPr/>
          <p:nvPr/>
        </p:nvSpPr>
        <p:spPr>
          <a:xfrm>
            <a:off x="5623560" y="363016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admin dashboard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5" name="Text 33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Customers - booking, vehicle overview, status tracking    🔧  Admins - manage all bookings, update statuses, send notifications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2606040" cy="4754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 Frontend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133856"/>
            <a:ext cx="26060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502920" y="1133856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746504"/>
            <a:ext cx="2606040" cy="58521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502920" y="1746504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7 build tool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359152"/>
            <a:ext cx="26060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502920" y="235915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971800"/>
            <a:ext cx="2606040" cy="58521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/>
          <p:nvPr/>
        </p:nvSpPr>
        <p:spPr>
          <a:xfrm>
            <a:off x="502920" y="297180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DOM 7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584448"/>
            <a:ext cx="26060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Text 13"/>
          <p:cNvSpPr/>
          <p:nvPr/>
        </p:nvSpPr>
        <p:spPr>
          <a:xfrm>
            <a:off x="502920" y="358444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AuthContext / AuthProvider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4197096"/>
            <a:ext cx="2606040" cy="58521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Text 15"/>
          <p:cNvSpPr/>
          <p:nvPr/>
        </p:nvSpPr>
        <p:spPr>
          <a:xfrm>
            <a:off x="502920" y="4197096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fetch API layer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54680" y="658368"/>
            <a:ext cx="260604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Text 17"/>
          <p:cNvSpPr/>
          <p:nvPr/>
        </p:nvSpPr>
        <p:spPr>
          <a:xfrm>
            <a:off x="3291840" y="65836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🟩 Backend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154680" y="1133856"/>
            <a:ext cx="26060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1" name="Text 19"/>
          <p:cNvSpPr/>
          <p:nvPr/>
        </p:nvSpPr>
        <p:spPr>
          <a:xfrm>
            <a:off x="3337560" y="1133856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154680" y="1746504"/>
            <a:ext cx="2606040" cy="58521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Text 21"/>
          <p:cNvSpPr/>
          <p:nvPr/>
        </p:nvSpPr>
        <p:spPr>
          <a:xfrm>
            <a:off x="3337560" y="1746504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154680" y="2359152"/>
            <a:ext cx="26060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5" name="Text 23"/>
          <p:cNvSpPr/>
          <p:nvPr/>
        </p:nvSpPr>
        <p:spPr>
          <a:xfrm>
            <a:off x="3337560" y="235915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 /api/*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154680" y="2971800"/>
            <a:ext cx="2606040" cy="58521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7" name="Text 25"/>
          <p:cNvSpPr/>
          <p:nvPr/>
        </p:nvSpPr>
        <p:spPr>
          <a:xfrm>
            <a:off x="3337560" y="297180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auth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154680" y="3584448"/>
            <a:ext cx="26060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9" name="Text 27"/>
          <p:cNvSpPr/>
          <p:nvPr/>
        </p:nvSpPr>
        <p:spPr>
          <a:xfrm>
            <a:off x="3337560" y="358444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→ Service layers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154680" y="4197096"/>
            <a:ext cx="2606040" cy="58521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1" name="Text 29"/>
          <p:cNvSpPr/>
          <p:nvPr/>
        </p:nvSpPr>
        <p:spPr>
          <a:xfrm>
            <a:off x="3337560" y="4197096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(ws) real-time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89320" y="658368"/>
            <a:ext cx="2606040" cy="4754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3" name="Text 31"/>
          <p:cNvSpPr/>
          <p:nvPr/>
        </p:nvSpPr>
        <p:spPr>
          <a:xfrm>
            <a:off x="6126480" y="65836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Database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989320" y="1133856"/>
            <a:ext cx="26060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5" name="Text 33"/>
          <p:cNvSpPr/>
          <p:nvPr/>
        </p:nvSpPr>
        <p:spPr>
          <a:xfrm>
            <a:off x="6172200" y="1133856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(relational)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989320" y="1746504"/>
            <a:ext cx="2606040" cy="58521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7" name="Text 35"/>
          <p:cNvSpPr/>
          <p:nvPr/>
        </p:nvSpPr>
        <p:spPr>
          <a:xfrm>
            <a:off x="6172200" y="1746504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main tables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989320" y="2359152"/>
            <a:ext cx="26060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9" name="Text 37"/>
          <p:cNvSpPr/>
          <p:nvPr/>
        </p:nvSpPr>
        <p:spPr>
          <a:xfrm>
            <a:off x="6172200" y="235915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cars, bookings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989320" y="2971800"/>
            <a:ext cx="2606040" cy="58521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1" name="Text 39"/>
          <p:cNvSpPr/>
          <p:nvPr/>
        </p:nvSpPr>
        <p:spPr>
          <a:xfrm>
            <a:off x="6172200" y="297180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services, notifications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989320" y="3584448"/>
            <a:ext cx="26060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3" name="Text 41"/>
          <p:cNvSpPr/>
          <p:nvPr/>
        </p:nvSpPr>
        <p:spPr>
          <a:xfrm>
            <a:off x="6172200" y="358444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mysql2/promise pool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989320" y="4197096"/>
            <a:ext cx="2606040" cy="58521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5" name="Text 43"/>
          <p:cNvSpPr/>
          <p:nvPr/>
        </p:nvSpPr>
        <p:spPr>
          <a:xfrm>
            <a:off x="6172200" y="4197096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SQL queries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2926080" y="2468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760720" y="2468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A47FE9-C216-8971-4E0E-557BF521C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6E6F54-8245-B98B-8CA5-4D0645D63F38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118C120-22A9-A2AE-022E-1481BAC9632B}"/>
              </a:ext>
            </a:extLst>
          </p:cNvPr>
          <p:cNvSpPr/>
          <p:nvPr/>
        </p:nvSpPr>
        <p:spPr>
          <a:xfrm>
            <a:off x="411480" y="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— 5+1 Tables</a:t>
            </a:r>
            <a:endParaRPr lang="en-US" sz="1800" dirty="0"/>
          </a:p>
        </p:txBody>
      </p:sp>
      <p:pic>
        <p:nvPicPr>
          <p:cNvPr id="10" name="Ábra 9">
            <a:extLst>
              <a:ext uri="{FF2B5EF4-FFF2-40B4-BE49-F238E27FC236}">
                <a16:creationId xmlns:a16="http://schemas.microsoft.com/office/drawing/2014/main" id="{6A6C4516-E7F7-C32D-B4AE-77D728A427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862" y="608201"/>
            <a:ext cx="8888084" cy="4341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347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Core Features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260604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521208" y="950976"/>
            <a:ext cx="50292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521208" y="950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🔐</a:t>
            </a:r>
          </a:p>
        </p:txBody>
      </p:sp>
      <p:sp>
        <p:nvSpPr>
          <p:cNvPr id="7" name="Text 5"/>
          <p:cNvSpPr/>
          <p:nvPr/>
        </p:nvSpPr>
        <p:spPr>
          <a:xfrm>
            <a:off x="1143000" y="95097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Roles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21208" y="1572768"/>
            <a:ext cx="2212848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521208" y="1664208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login · bcrypt hashing · user / admin roles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749808"/>
            <a:ext cx="260604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1" name="Shape 9"/>
          <p:cNvSpPr/>
          <p:nvPr/>
        </p:nvSpPr>
        <p:spPr>
          <a:xfrm>
            <a:off x="3355848" y="950976"/>
            <a:ext cx="50292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3355848" y="950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🚗</a:t>
            </a:r>
          </a:p>
        </p:txBody>
      </p:sp>
      <p:sp>
        <p:nvSpPr>
          <p:cNvPr id="13" name="Text 11"/>
          <p:cNvSpPr/>
          <p:nvPr/>
        </p:nvSpPr>
        <p:spPr>
          <a:xfrm>
            <a:off x="3977640" y="95097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Registry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55848" y="1572768"/>
            <a:ext cx="2212848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Text 13"/>
          <p:cNvSpPr/>
          <p:nvPr/>
        </p:nvSpPr>
        <p:spPr>
          <a:xfrm>
            <a:off x="3355848" y="1664208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edit / delete · unique plates enforced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89320" y="749808"/>
            <a:ext cx="260604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7" name="Shape 15"/>
          <p:cNvSpPr/>
          <p:nvPr/>
        </p:nvSpPr>
        <p:spPr>
          <a:xfrm>
            <a:off x="6190488" y="950976"/>
            <a:ext cx="50292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Text 16"/>
          <p:cNvSpPr/>
          <p:nvPr/>
        </p:nvSpPr>
        <p:spPr>
          <a:xfrm>
            <a:off x="6190488" y="950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📅</a:t>
            </a:r>
          </a:p>
        </p:txBody>
      </p:sp>
      <p:sp>
        <p:nvSpPr>
          <p:cNvPr id="19" name="Text 17"/>
          <p:cNvSpPr/>
          <p:nvPr/>
        </p:nvSpPr>
        <p:spPr>
          <a:xfrm>
            <a:off x="6812280" y="95097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Booking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90488" y="1572768"/>
            <a:ext cx="2212848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1" name="Text 19"/>
          <p:cNvSpPr/>
          <p:nvPr/>
        </p:nvSpPr>
        <p:spPr>
          <a:xfrm>
            <a:off x="6190488" y="1664208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only shows real free slots (server-side)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834640"/>
            <a:ext cx="260604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3" name="Shape 21"/>
          <p:cNvSpPr/>
          <p:nvPr/>
        </p:nvSpPr>
        <p:spPr>
          <a:xfrm>
            <a:off x="521208" y="3035808"/>
            <a:ext cx="50292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4" name="Text 22"/>
          <p:cNvSpPr/>
          <p:nvPr/>
        </p:nvSpPr>
        <p:spPr>
          <a:xfrm>
            <a:off x="521208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📊</a:t>
            </a:r>
          </a:p>
        </p:txBody>
      </p:sp>
      <p:sp>
        <p:nvSpPr>
          <p:cNvPr id="25" name="Text 23"/>
          <p:cNvSpPr/>
          <p:nvPr/>
        </p:nvSpPr>
        <p:spPr>
          <a:xfrm>
            <a:off x="1143000" y="30358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Tracking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21208" y="3657600"/>
            <a:ext cx="2212848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7" name="Text 25"/>
          <p:cNvSpPr/>
          <p:nvPr/>
        </p:nvSpPr>
        <p:spPr>
          <a:xfrm>
            <a:off x="521208" y="3749040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booking status · auto-sync on admin update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54680" y="2834640"/>
            <a:ext cx="260604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9" name="Shape 27"/>
          <p:cNvSpPr/>
          <p:nvPr/>
        </p:nvSpPr>
        <p:spPr>
          <a:xfrm>
            <a:off x="3355848" y="3035808"/>
            <a:ext cx="50292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0" name="Text 28"/>
          <p:cNvSpPr/>
          <p:nvPr/>
        </p:nvSpPr>
        <p:spPr>
          <a:xfrm>
            <a:off x="3355848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🔔</a:t>
            </a:r>
          </a:p>
        </p:txBody>
      </p:sp>
      <p:sp>
        <p:nvSpPr>
          <p:cNvPr id="31" name="Text 29"/>
          <p:cNvSpPr/>
          <p:nvPr/>
        </p:nvSpPr>
        <p:spPr>
          <a:xfrm>
            <a:off x="3977640" y="30358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355848" y="3657600"/>
            <a:ext cx="2212848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3" name="Text 31"/>
          <p:cNvSpPr/>
          <p:nvPr/>
        </p:nvSpPr>
        <p:spPr>
          <a:xfrm>
            <a:off x="3355848" y="3749040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messages · read/unread · WebSocket push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89320" y="2834640"/>
            <a:ext cx="260604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5" name="Shape 33"/>
          <p:cNvSpPr/>
          <p:nvPr/>
        </p:nvSpPr>
        <p:spPr>
          <a:xfrm>
            <a:off x="6190488" y="3035808"/>
            <a:ext cx="50292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6" name="Text 34"/>
          <p:cNvSpPr/>
          <p:nvPr/>
        </p:nvSpPr>
        <p:spPr>
          <a:xfrm>
            <a:off x="6190488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🛠</a:t>
            </a:r>
          </a:p>
        </p:txBody>
      </p:sp>
      <p:sp>
        <p:nvSpPr>
          <p:cNvPr id="37" name="Text 35"/>
          <p:cNvSpPr/>
          <p:nvPr/>
        </p:nvSpPr>
        <p:spPr>
          <a:xfrm>
            <a:off x="6812280" y="30358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190488" y="3657600"/>
            <a:ext cx="2212848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9" name="Text 37"/>
          <p:cNvSpPr/>
          <p:nvPr/>
        </p:nvSpPr>
        <p:spPr>
          <a:xfrm>
            <a:off x="6190488" y="3749040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bookings, cars, users, services in one view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in 6 Steps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26060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50292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502920" y="932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24712" y="95097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Car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572768"/>
            <a:ext cx="2231136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502920" y="1645920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booking disables car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53512" y="1499616"/>
            <a:ext cx="173736" cy="3200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2953512" y="1499616"/>
            <a:ext cx="173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154680" y="749808"/>
            <a:ext cx="26060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3" name="Shape 11"/>
          <p:cNvSpPr/>
          <p:nvPr/>
        </p:nvSpPr>
        <p:spPr>
          <a:xfrm>
            <a:off x="3337560" y="932688"/>
            <a:ext cx="50292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2"/>
          <p:cNvSpPr/>
          <p:nvPr/>
        </p:nvSpPr>
        <p:spPr>
          <a:xfrm>
            <a:off x="3337560" y="932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959352" y="95097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/availability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37560" y="1572768"/>
            <a:ext cx="2231136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Text 15"/>
          <p:cNvSpPr/>
          <p:nvPr/>
        </p:nvSpPr>
        <p:spPr>
          <a:xfrm>
            <a:off x="3337560" y="1645920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returns free slots only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88152" y="1499616"/>
            <a:ext cx="173736" cy="3200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Text 17"/>
          <p:cNvSpPr/>
          <p:nvPr/>
        </p:nvSpPr>
        <p:spPr>
          <a:xfrm>
            <a:off x="5788152" y="1499616"/>
            <a:ext cx="173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89320" y="749808"/>
            <a:ext cx="26060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1" name="Shape 19"/>
          <p:cNvSpPr/>
          <p:nvPr/>
        </p:nvSpPr>
        <p:spPr>
          <a:xfrm>
            <a:off x="6172200" y="932688"/>
            <a:ext cx="50292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2" name="Text 20"/>
          <p:cNvSpPr/>
          <p:nvPr/>
        </p:nvSpPr>
        <p:spPr>
          <a:xfrm>
            <a:off x="6172200" y="932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793992" y="95097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Date &amp; Time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2200" y="1572768"/>
            <a:ext cx="2231136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5" name="Text 23"/>
          <p:cNvSpPr/>
          <p:nvPr/>
        </p:nvSpPr>
        <p:spPr>
          <a:xfrm>
            <a:off x="6172200" y="1645920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Greyed = booked / past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2834640"/>
            <a:ext cx="26060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" name="Shape 25"/>
          <p:cNvSpPr/>
          <p:nvPr/>
        </p:nvSpPr>
        <p:spPr>
          <a:xfrm>
            <a:off x="502920" y="3017520"/>
            <a:ext cx="50292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8" name="Text 26"/>
          <p:cNvSpPr/>
          <p:nvPr/>
        </p:nvSpPr>
        <p:spPr>
          <a:xfrm>
            <a:off x="50292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124712" y="30358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Service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2920" y="3657600"/>
            <a:ext cx="2231136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1" name="Text 29"/>
          <p:cNvSpPr/>
          <p:nvPr/>
        </p:nvSpPr>
        <p:spPr>
          <a:xfrm>
            <a:off x="502920" y="3730752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IDs in service_ids[ ]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953512" y="3584448"/>
            <a:ext cx="173736" cy="3200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3" name="Text 31"/>
          <p:cNvSpPr/>
          <p:nvPr/>
        </p:nvSpPr>
        <p:spPr>
          <a:xfrm>
            <a:off x="2953512" y="3584448"/>
            <a:ext cx="173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154680" y="2834640"/>
            <a:ext cx="26060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5" name="Shape 33"/>
          <p:cNvSpPr/>
          <p:nvPr/>
        </p:nvSpPr>
        <p:spPr>
          <a:xfrm>
            <a:off x="3337560" y="3017520"/>
            <a:ext cx="50292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6" name="Text 34"/>
          <p:cNvSpPr/>
          <p:nvPr/>
        </p:nvSpPr>
        <p:spPr>
          <a:xfrm>
            <a:off x="333756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3959352" y="30358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/bookings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337560" y="3657600"/>
            <a:ext cx="2231136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9" name="Text 37"/>
          <p:cNvSpPr/>
          <p:nvPr/>
        </p:nvSpPr>
        <p:spPr>
          <a:xfrm>
            <a:off x="3337560" y="3730752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+ inserts to DB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788152" y="3584448"/>
            <a:ext cx="173736" cy="3200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1" name="Text 39"/>
          <p:cNvSpPr/>
          <p:nvPr/>
        </p:nvSpPr>
        <p:spPr>
          <a:xfrm>
            <a:off x="5788152" y="3584448"/>
            <a:ext cx="173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989320" y="2834640"/>
            <a:ext cx="26060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43" name="Shape 41"/>
          <p:cNvSpPr/>
          <p:nvPr/>
        </p:nvSpPr>
        <p:spPr>
          <a:xfrm>
            <a:off x="6172200" y="3017520"/>
            <a:ext cx="50292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4" name="Text 42"/>
          <p:cNvSpPr/>
          <p:nvPr/>
        </p:nvSpPr>
        <p:spPr>
          <a:xfrm>
            <a:off x="617220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6793992" y="30358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→ Waiting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172200" y="3657600"/>
            <a:ext cx="2231136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7" name="Text 45"/>
          <p:cNvSpPr/>
          <p:nvPr/>
        </p:nvSpPr>
        <p:spPr>
          <a:xfrm>
            <a:off x="6172200" y="3730752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cars.status updated immediately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Bar">
            <a:extLst>
              <a:ext uri="{FF2B5EF4-FFF2-40B4-BE49-F238E27FC236}">
                <a16:creationId xmlns:a16="http://schemas.microsoft.com/office/drawing/2014/main" id="{127AF42B-E649-BF3C-56E1-BAC1626ADB13}"/>
              </a:ext>
            </a:extLst>
          </p:cNvPr>
          <p:cNvSpPr>
            <a:spLocks noGrp="1"/>
          </p:cNvSpPr>
          <p:nvPr/>
        </p:nvSpPr>
        <p:spPr>
          <a:xfrm>
            <a:off x="622000" y="1049210"/>
            <a:ext cx="70000" cy="340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MainTitle">
            <a:extLst>
              <a:ext uri="{FF2B5EF4-FFF2-40B4-BE49-F238E27FC236}">
                <a16:creationId xmlns:a16="http://schemas.microsoft.com/office/drawing/2014/main" id="{B9AC8185-39BA-7FB1-7948-7CD5106DE90C}"/>
              </a:ext>
            </a:extLst>
          </p:cNvPr>
          <p:cNvSpPr txBox="1"/>
          <p:nvPr/>
        </p:nvSpPr>
        <p:spPr>
          <a:xfrm>
            <a:off x="822000" y="1409210"/>
            <a:ext cx="75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u-HU" sz="7200" b="1" dirty="0">
                <a:latin typeface="Calibri"/>
              </a:rPr>
              <a:t>Live Demo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6083657F-E15A-40B7-1284-F34EDB16624A}"/>
              </a:ext>
            </a:extLst>
          </p:cNvPr>
          <p:cNvSpPr txBox="1"/>
          <p:nvPr/>
        </p:nvSpPr>
        <p:spPr>
          <a:xfrm>
            <a:off x="822000" y="2619210"/>
            <a:ext cx="75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700" b="0" dirty="0">
                <a:solidFill>
                  <a:srgbClr val="9CA3AF"/>
                </a:solidFill>
                <a:latin typeface="Calibri"/>
              </a:rPr>
              <a:t>Auto Repair Shop — Live demonstration of the application</a:t>
            </a:r>
            <a:endParaRPr lang="hu-HU" sz="1700" b="0" dirty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7" name="Chip1">
            <a:extLst>
              <a:ext uri="{FF2B5EF4-FFF2-40B4-BE49-F238E27FC236}">
                <a16:creationId xmlns:a16="http://schemas.microsoft.com/office/drawing/2014/main" id="{83D1C2A1-29C9-0843-8845-35F2F273102D}"/>
              </a:ext>
            </a:extLst>
          </p:cNvPr>
          <p:cNvSpPr>
            <a:spLocks noGrp="1"/>
          </p:cNvSpPr>
          <p:nvPr/>
        </p:nvSpPr>
        <p:spPr>
          <a:xfrm>
            <a:off x="822000" y="3229210"/>
            <a:ext cx="2200000" cy="440000"/>
          </a:xfrm>
          <a:prstGeom prst="roundRect">
            <a:avLst>
              <a:gd name="adj" fmla="val 20000"/>
            </a:avLst>
          </a:prstGeom>
          <a:solidFill>
            <a:srgbClr val="1C2D45"/>
          </a:solidFill>
          <a:ln w="19050">
            <a:solidFill>
              <a:srgbClr val="3B82F6"/>
            </a:solidFill>
          </a:ln>
        </p:spPr>
        <p:txBody>
          <a:bodyPr lIns="120000" tIns="0" rIns="120000" bIns="0" anchor="ctr"/>
          <a:lstStyle/>
          <a:p>
            <a:pPr algn="ctr"/>
            <a:r>
              <a:rPr lang="hu-HU" sz="1400" b="1" dirty="0">
                <a:solidFill>
                  <a:srgbClr val="FFFFFF"/>
                </a:solidFill>
                <a:latin typeface="Calibri"/>
              </a:rPr>
              <a:t>📅  </a:t>
            </a:r>
            <a:r>
              <a:rPr lang="hu-HU" sz="1400" b="1" dirty="0" err="1">
                <a:solidFill>
                  <a:srgbClr val="FFFFFF"/>
                </a:solidFill>
                <a:latin typeface="Calibri"/>
              </a:rPr>
              <a:t>Booking</a:t>
            </a:r>
            <a:endParaRPr lang="hu-HU" sz="1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Chip2">
            <a:extLst>
              <a:ext uri="{FF2B5EF4-FFF2-40B4-BE49-F238E27FC236}">
                <a16:creationId xmlns:a16="http://schemas.microsoft.com/office/drawing/2014/main" id="{59C553F3-C362-AA86-EA8E-472BA502DFD9}"/>
              </a:ext>
            </a:extLst>
          </p:cNvPr>
          <p:cNvSpPr>
            <a:spLocks noGrp="1"/>
          </p:cNvSpPr>
          <p:nvPr/>
        </p:nvSpPr>
        <p:spPr>
          <a:xfrm>
            <a:off x="3222000" y="3229210"/>
            <a:ext cx="2200000" cy="440000"/>
          </a:xfrm>
          <a:prstGeom prst="roundRect">
            <a:avLst>
              <a:gd name="adj" fmla="val 20000"/>
            </a:avLst>
          </a:prstGeom>
          <a:solidFill>
            <a:srgbClr val="1C2D45"/>
          </a:solidFill>
          <a:ln w="19050">
            <a:solidFill>
              <a:srgbClr val="3B82F6"/>
            </a:solidFill>
          </a:ln>
        </p:spPr>
        <p:txBody>
          <a:bodyPr lIns="120000" tIns="0" rIns="120000" bIns="0" anchor="ctr"/>
          <a:lstStyle/>
          <a:p>
            <a:pPr algn="ctr"/>
            <a:r>
              <a:rPr lang="hu-HU" sz="1400" b="1" dirty="0">
                <a:solidFill>
                  <a:srgbClr val="FFFFFF"/>
                </a:solidFill>
                <a:latin typeface="Calibri"/>
              </a:rPr>
              <a:t>🛠  Admin Panel</a:t>
            </a:r>
          </a:p>
        </p:txBody>
      </p:sp>
      <p:sp>
        <p:nvSpPr>
          <p:cNvPr id="9" name="Chip3">
            <a:extLst>
              <a:ext uri="{FF2B5EF4-FFF2-40B4-BE49-F238E27FC236}">
                <a16:creationId xmlns:a16="http://schemas.microsoft.com/office/drawing/2014/main" id="{02429383-7981-C02B-DE2A-E9404B7BCBD7}"/>
              </a:ext>
            </a:extLst>
          </p:cNvPr>
          <p:cNvSpPr>
            <a:spLocks noGrp="1"/>
          </p:cNvSpPr>
          <p:nvPr/>
        </p:nvSpPr>
        <p:spPr>
          <a:xfrm>
            <a:off x="5622000" y="3229210"/>
            <a:ext cx="2660000" cy="440000"/>
          </a:xfrm>
          <a:prstGeom prst="roundRect">
            <a:avLst>
              <a:gd name="adj" fmla="val 20000"/>
            </a:avLst>
          </a:prstGeom>
          <a:solidFill>
            <a:srgbClr val="1C2D45"/>
          </a:solidFill>
          <a:ln w="19050">
            <a:solidFill>
              <a:srgbClr val="3B82F6"/>
            </a:solidFill>
          </a:ln>
        </p:spPr>
        <p:txBody>
          <a:bodyPr lIns="120000" tIns="0" rIns="120000" bIns="0" anchor="ctr"/>
          <a:lstStyle/>
          <a:p>
            <a:pPr algn="ctr"/>
            <a:r>
              <a:rPr lang="hu-HU" sz="1400" b="1" dirty="0">
                <a:solidFill>
                  <a:srgbClr val="FFFFFF"/>
                </a:solidFill>
                <a:latin typeface="Calibri"/>
              </a:rPr>
              <a:t>🔔  </a:t>
            </a:r>
            <a:r>
              <a:rPr lang="hu-HU" sz="1400" b="1" dirty="0" err="1">
                <a:solidFill>
                  <a:srgbClr val="FFFFFF"/>
                </a:solidFill>
                <a:latin typeface="Calibri"/>
              </a:rPr>
              <a:t>WebSocket</a:t>
            </a:r>
            <a:r>
              <a:rPr lang="hu-HU" sz="1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hu-HU" sz="1400" b="1" dirty="0" err="1">
                <a:solidFill>
                  <a:srgbClr val="FFFFFF"/>
                </a:solidFill>
                <a:latin typeface="Calibri"/>
              </a:rPr>
              <a:t>Notifications</a:t>
            </a:r>
            <a:endParaRPr lang="hu-HU" sz="1400" b="1" dirty="0">
              <a:solidFill>
                <a:srgbClr val="FFFFF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1112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a Booking — Controller + Service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4937760" cy="4251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320040" y="658368"/>
            <a:ext cx="2011680" cy="274320"/>
          </a:xfrm>
          <a:prstGeom prst="rect">
            <a:avLst/>
          </a:prstGeom>
          <a:solidFill>
            <a:srgbClr val="25252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bookingController.ts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4663440" cy="374904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updateBooking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async (req, res) =&gt; {
</a:t>
            </a: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(req as any).user;
</a:t>
            </a: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(user.role !== 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"admin"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res.status(</a:t>
            </a: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403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).json({...});
</a:t>
            </a: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Number(req.params.id);
</a:t>
            </a: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BookingService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.updateBooking(
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id, req.body
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
</a:t>
            </a: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res.json({ message: 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"updated"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});
};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94960" y="658368"/>
            <a:ext cx="3520440" cy="4251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5394960" y="658368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Admin-Editable Fields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94960" y="658368"/>
            <a:ext cx="3520440" cy="4754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5394960" y="658368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Admin-Editable Fields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532120" y="1225296"/>
            <a:ext cx="324612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Shape 11"/>
          <p:cNvSpPr/>
          <p:nvPr/>
        </p:nvSpPr>
        <p:spPr>
          <a:xfrm>
            <a:off x="5532120" y="1225296"/>
            <a:ext cx="64008" cy="5943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2"/>
          <p:cNvSpPr/>
          <p:nvPr/>
        </p:nvSpPr>
        <p:spPr>
          <a:xfrm>
            <a:off x="5650992" y="12252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50992" y="14996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→ In Progress → Done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32120" y="1911096"/>
            <a:ext cx="324612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Shape 15"/>
          <p:cNvSpPr/>
          <p:nvPr/>
        </p:nvSpPr>
        <p:spPr>
          <a:xfrm>
            <a:off x="5532120" y="1911096"/>
            <a:ext cx="64008" cy="5943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Text 16"/>
          <p:cNvSpPr/>
          <p:nvPr/>
        </p:nvSpPr>
        <p:spPr>
          <a:xfrm>
            <a:off x="5650992" y="19110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50992" y="21854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labour hours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32120" y="2596896"/>
            <a:ext cx="324612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1" name="Shape 19"/>
          <p:cNvSpPr/>
          <p:nvPr/>
        </p:nvSpPr>
        <p:spPr>
          <a:xfrm>
            <a:off x="5532120" y="2596896"/>
            <a:ext cx="64008" cy="5943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2" name="Text 20"/>
          <p:cNvSpPr/>
          <p:nvPr/>
        </p:nvSpPr>
        <p:spPr>
          <a:xfrm>
            <a:off x="5650992" y="25968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50992" y="28712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invoice (HUF)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32120" y="3282696"/>
            <a:ext cx="324612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5" name="Shape 23"/>
          <p:cNvSpPr/>
          <p:nvPr/>
        </p:nvSpPr>
        <p:spPr>
          <a:xfrm>
            <a:off x="5532120" y="3282696"/>
            <a:ext cx="64008" cy="5943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6" name="Text 24"/>
          <p:cNvSpPr/>
          <p:nvPr/>
        </p:nvSpPr>
        <p:spPr>
          <a:xfrm>
            <a:off x="5650992" y="32826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50992" y="35570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workshop notes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32120" y="3968496"/>
            <a:ext cx="324612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9" name="Shape 27"/>
          <p:cNvSpPr/>
          <p:nvPr/>
        </p:nvSpPr>
        <p:spPr>
          <a:xfrm>
            <a:off x="5532120" y="3968496"/>
            <a:ext cx="64008" cy="5943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0" name="Text 28"/>
          <p:cNvSpPr/>
          <p:nvPr/>
        </p:nvSpPr>
        <p:spPr>
          <a:xfrm>
            <a:off x="5650992" y="39684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note_to_client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50992" y="42428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to the customer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JWT: Login → Guard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4937760" cy="4251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320040" y="658368"/>
            <a:ext cx="1645920" cy="274320"/>
          </a:xfrm>
          <a:prstGeom prst="rect">
            <a:avLst/>
          </a:prstGeom>
          <a:solidFill>
            <a:srgbClr val="25252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authMiddleware.ts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4663440" cy="374904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Registration
</a:t>
            </a: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</a:t>
            </a: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await 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bcrypt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.hash(password, </a:t>
            </a: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Login: compare + sign
</a:t>
            </a: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await 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bcrypt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.compare(pw, hash);
</a:t>
            </a: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.sign(
  { id: user.id, role: user.role },
  config.jwtSecret,
  { expiresIn: 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"2h"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
);
</a:t>
            </a: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Protected route guard
</a:t>
            </a: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decoded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.verify(parts[</a:t>
            </a: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secret);
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(req as any).user = decoded;
</a:t>
            </a: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{ id: 42, role: 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"admin"</a:t>
            </a: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94960" y="658368"/>
            <a:ext cx="3520440" cy="4251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5394960" y="65836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Flow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94960" y="658368"/>
            <a:ext cx="3520440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5394960" y="65836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Flow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577840" y="1152144"/>
            <a:ext cx="3154680" cy="411480"/>
          </a:xfrm>
          <a:prstGeom prst="rect">
            <a:avLst/>
          </a:prstGeom>
          <a:solidFill>
            <a:srgbClr val="111111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/>
          <p:nvPr/>
        </p:nvSpPr>
        <p:spPr>
          <a:xfrm>
            <a:off x="5577840" y="1152144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/auth/login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77840" y="155448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1719072"/>
            <a:ext cx="315468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4"/>
          <p:cNvSpPr/>
          <p:nvPr/>
        </p:nvSpPr>
        <p:spPr>
          <a:xfrm>
            <a:off x="5577840" y="171907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bcrypt.compare()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77840" y="2121408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2286000"/>
            <a:ext cx="3154680" cy="411480"/>
          </a:xfrm>
          <a:prstGeom prst="rect">
            <a:avLst/>
          </a:prstGeom>
          <a:solidFill>
            <a:srgbClr val="111111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Text 17"/>
          <p:cNvSpPr/>
          <p:nvPr/>
        </p:nvSpPr>
        <p:spPr>
          <a:xfrm>
            <a:off x="5577840" y="22860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jwt.sign({ id, role })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77840" y="2688336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77840" y="2852928"/>
            <a:ext cx="315468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2" name="Text 20"/>
          <p:cNvSpPr/>
          <p:nvPr/>
        </p:nvSpPr>
        <p:spPr>
          <a:xfrm>
            <a:off x="5577840" y="285292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→ localStorage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3255264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77840" y="3419856"/>
            <a:ext cx="3154680" cy="411480"/>
          </a:xfrm>
          <a:prstGeom prst="rect">
            <a:avLst/>
          </a:prstGeom>
          <a:solidFill>
            <a:srgbClr val="111111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5" name="Text 23"/>
          <p:cNvSpPr/>
          <p:nvPr/>
        </p:nvSpPr>
        <p:spPr>
          <a:xfrm>
            <a:off x="5577840" y="341985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Bearer header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77840" y="382219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77840" y="3986784"/>
            <a:ext cx="3154680" cy="411480"/>
          </a:xfrm>
          <a:prstGeom prst="rect">
            <a:avLst/>
          </a:prstGeom>
          <a:solidFill>
            <a:srgbClr val="1A6B3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8" name="Text 26"/>
          <p:cNvSpPr/>
          <p:nvPr/>
        </p:nvSpPr>
        <p:spPr>
          <a:xfrm>
            <a:off x="5577840" y="3986784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jwt.verify()  ✓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Architecture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4206240" cy="4251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320040" y="658368"/>
            <a:ext cx="1371600" cy="274320"/>
          </a:xfrm>
          <a:prstGeom prst="rect">
            <a:avLst/>
          </a:prstGeom>
          <a:solidFill>
            <a:srgbClr val="25252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25603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src/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04088" y="1229868"/>
            <a:ext cx="25603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api/api.ts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32888" y="1229868"/>
            <a:ext cx="18288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fetch wrapper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04088" y="1472184"/>
            <a:ext cx="25603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context/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05256" y="1714500"/>
            <a:ext cx="25603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AuthContext.ts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05256" y="1956816"/>
            <a:ext cx="25603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AuthProvider.tsx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34056" y="1956816"/>
            <a:ext cx="18288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localStorage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" y="2199132"/>
            <a:ext cx="25603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components/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05256" y="2441448"/>
            <a:ext cx="25603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Navbar.tsx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34056" y="2441448"/>
            <a:ext cx="18288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role-aware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05256" y="2683764"/>
            <a:ext cx="25603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Footer.tsx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4088" y="2926080"/>
            <a:ext cx="25603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pages/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05256" y="3168396"/>
            <a:ext cx="25603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Dashboard.tsx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05256" y="3410712"/>
            <a:ext cx="25603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AdminDashboard.tsx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05256" y="3653028"/>
            <a:ext cx="25603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NewBooking.tsx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4088" y="3895344"/>
            <a:ext cx="25603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router/AppRouter.tsx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4088" y="4137660"/>
            <a:ext cx="25603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utils/datetime.tsx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713232"/>
            <a:ext cx="420624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5" name="Shape 23"/>
          <p:cNvSpPr/>
          <p:nvPr/>
        </p:nvSpPr>
        <p:spPr>
          <a:xfrm>
            <a:off x="4663440" y="713232"/>
            <a:ext cx="64008" cy="87782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6" name="Text 24"/>
          <p:cNvSpPr/>
          <p:nvPr/>
        </p:nvSpPr>
        <p:spPr>
          <a:xfrm>
            <a:off x="4828032" y="7680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AuthProvider wraps router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28032" y="113385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+ user available anywhere via useContext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1719072"/>
            <a:ext cx="420624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9" name="Shape 27"/>
          <p:cNvSpPr/>
          <p:nvPr/>
        </p:nvSpPr>
        <p:spPr>
          <a:xfrm>
            <a:off x="4663440" y="1719072"/>
            <a:ext cx="64008" cy="87782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0" name="Text 28"/>
          <p:cNvSpPr/>
          <p:nvPr/>
        </p:nvSpPr>
        <p:spPr>
          <a:xfrm>
            <a:off x="4828032" y="17739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persistence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28032" y="213969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stay logged in for the 2h JWT lifetime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2724912"/>
            <a:ext cx="420624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3" name="Shape 31"/>
          <p:cNvSpPr/>
          <p:nvPr/>
        </p:nvSpPr>
        <p:spPr>
          <a:xfrm>
            <a:off x="4663440" y="2724912"/>
            <a:ext cx="64008" cy="87782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4" name="Text 32"/>
          <p:cNvSpPr/>
          <p:nvPr/>
        </p:nvSpPr>
        <p:spPr>
          <a:xfrm>
            <a:off x="4828032" y="27797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reflects UI state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28032" y="31455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?tab= param keeps the correct tab on refresh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3730752"/>
            <a:ext cx="420624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7" name="Shape 35"/>
          <p:cNvSpPr/>
          <p:nvPr/>
        </p:nvSpPr>
        <p:spPr>
          <a:xfrm>
            <a:off x="4663440" y="3730752"/>
            <a:ext cx="64008" cy="87782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8" name="Text 36"/>
          <p:cNvSpPr/>
          <p:nvPr/>
        </p:nvSpPr>
        <p:spPr>
          <a:xfrm>
            <a:off x="4828032" y="37856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flag guard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828032" y="415137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false logout flash on page reload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— Key Routes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25880" y="6583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31720" y="6583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166360" y="6583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005840"/>
            <a:ext cx="8503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Shape 8"/>
          <p:cNvSpPr/>
          <p:nvPr/>
        </p:nvSpPr>
        <p:spPr>
          <a:xfrm>
            <a:off x="411480" y="1078992"/>
            <a:ext cx="77724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411480" y="10789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25880" y="1078992"/>
            <a:ext cx="777240" cy="256032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/>
          <p:nvPr/>
        </p:nvSpPr>
        <p:spPr>
          <a:xfrm>
            <a:off x="1325880" y="10789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40280" y="10058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/auth/register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0" y="100584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user account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1463040"/>
            <a:ext cx="8503920" cy="42062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Shape 15"/>
          <p:cNvSpPr/>
          <p:nvPr/>
        </p:nvSpPr>
        <p:spPr>
          <a:xfrm>
            <a:off x="411480" y="1536192"/>
            <a:ext cx="77724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Text 16"/>
          <p:cNvSpPr/>
          <p:nvPr/>
        </p:nvSpPr>
        <p:spPr>
          <a:xfrm>
            <a:off x="411480" y="15361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25880" y="1536192"/>
            <a:ext cx="777240" cy="256032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Text 18"/>
          <p:cNvSpPr/>
          <p:nvPr/>
        </p:nvSpPr>
        <p:spPr>
          <a:xfrm>
            <a:off x="1325880" y="15361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40280" y="14630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/auth/login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0640" y="146304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JWT token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1920240"/>
            <a:ext cx="8503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4" name="Shape 22"/>
          <p:cNvSpPr/>
          <p:nvPr/>
        </p:nvSpPr>
        <p:spPr>
          <a:xfrm>
            <a:off x="411480" y="1993392"/>
            <a:ext cx="77724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5" name="Text 23"/>
          <p:cNvSpPr/>
          <p:nvPr/>
        </p:nvSpPr>
        <p:spPr>
          <a:xfrm>
            <a:off x="411480" y="19933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325880" y="1993392"/>
            <a:ext cx="777240" cy="256032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7" name="Text 25"/>
          <p:cNvSpPr/>
          <p:nvPr/>
        </p:nvSpPr>
        <p:spPr>
          <a:xfrm>
            <a:off x="1325880" y="19933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40280" y="19202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/bookings/availability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20640" y="192024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slots for date range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2377440"/>
            <a:ext cx="8503920" cy="42062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1" name="Shape 29"/>
          <p:cNvSpPr/>
          <p:nvPr/>
        </p:nvSpPr>
        <p:spPr>
          <a:xfrm>
            <a:off x="411480" y="2450592"/>
            <a:ext cx="77724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2" name="Text 30"/>
          <p:cNvSpPr/>
          <p:nvPr/>
        </p:nvSpPr>
        <p:spPr>
          <a:xfrm>
            <a:off x="411480" y="24505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325880" y="2450592"/>
            <a:ext cx="77724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4" name="Text 32"/>
          <p:cNvSpPr/>
          <p:nvPr/>
        </p:nvSpPr>
        <p:spPr>
          <a:xfrm>
            <a:off x="1325880" y="24505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240280" y="23774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/bookings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20640" y="237744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bookings (admin: all)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" y="2834640"/>
            <a:ext cx="8503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8" name="Shape 36"/>
          <p:cNvSpPr/>
          <p:nvPr/>
        </p:nvSpPr>
        <p:spPr>
          <a:xfrm>
            <a:off x="411480" y="2907792"/>
            <a:ext cx="77724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9" name="Text 37"/>
          <p:cNvSpPr/>
          <p:nvPr/>
        </p:nvSpPr>
        <p:spPr>
          <a:xfrm>
            <a:off x="411480" y="29077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325880" y="2907792"/>
            <a:ext cx="77724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1" name="Text 39"/>
          <p:cNvSpPr/>
          <p:nvPr/>
        </p:nvSpPr>
        <p:spPr>
          <a:xfrm>
            <a:off x="1325880" y="29077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40280" y="28346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/bookings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20640" y="283464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booking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20040" y="3291840"/>
            <a:ext cx="8503920" cy="42062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5" name="Shape 43"/>
          <p:cNvSpPr/>
          <p:nvPr/>
        </p:nvSpPr>
        <p:spPr>
          <a:xfrm>
            <a:off x="411480" y="3364992"/>
            <a:ext cx="77724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6" name="Text 44"/>
          <p:cNvSpPr/>
          <p:nvPr/>
        </p:nvSpPr>
        <p:spPr>
          <a:xfrm>
            <a:off x="411480" y="33649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325880" y="3364992"/>
            <a:ext cx="77724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8" name="Text 46"/>
          <p:cNvSpPr/>
          <p:nvPr/>
        </p:nvSpPr>
        <p:spPr>
          <a:xfrm>
            <a:off x="1325880" y="33649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240280" y="32918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/bookings/:id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120640" y="329184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status / cost / notes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20040" y="3749040"/>
            <a:ext cx="8503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2" name="Shape 50"/>
          <p:cNvSpPr/>
          <p:nvPr/>
        </p:nvSpPr>
        <p:spPr>
          <a:xfrm>
            <a:off x="411480" y="3822192"/>
            <a:ext cx="77724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3" name="Text 51"/>
          <p:cNvSpPr/>
          <p:nvPr/>
        </p:nvSpPr>
        <p:spPr>
          <a:xfrm>
            <a:off x="411480" y="38221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325880" y="3822192"/>
            <a:ext cx="77724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5" name="Text 53"/>
          <p:cNvSpPr/>
          <p:nvPr/>
        </p:nvSpPr>
        <p:spPr>
          <a:xfrm>
            <a:off x="1325880" y="38221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240280" y="37490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/bookings/:id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120640" y="374904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booking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20040" y="4206240"/>
            <a:ext cx="8503920" cy="42062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9" name="Shape 57"/>
          <p:cNvSpPr/>
          <p:nvPr/>
        </p:nvSpPr>
        <p:spPr>
          <a:xfrm>
            <a:off x="411480" y="4279392"/>
            <a:ext cx="77724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0" name="Text 58"/>
          <p:cNvSpPr/>
          <p:nvPr/>
        </p:nvSpPr>
        <p:spPr>
          <a:xfrm>
            <a:off x="411480" y="42793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325880" y="4279392"/>
            <a:ext cx="77724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2" name="Text 60"/>
          <p:cNvSpPr/>
          <p:nvPr/>
        </p:nvSpPr>
        <p:spPr>
          <a:xfrm>
            <a:off x="1325880" y="42793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240280" y="42062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/notifications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120640" y="420624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 user(s)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20040" y="4663440"/>
            <a:ext cx="8503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6" name="Shape 64"/>
          <p:cNvSpPr/>
          <p:nvPr/>
        </p:nvSpPr>
        <p:spPr>
          <a:xfrm>
            <a:off x="411480" y="4736592"/>
            <a:ext cx="77724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7" name="Text 65"/>
          <p:cNvSpPr/>
          <p:nvPr/>
        </p:nvSpPr>
        <p:spPr>
          <a:xfrm>
            <a:off x="411480" y="47365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1325880" y="4736592"/>
            <a:ext cx="77724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9" name="Text 67"/>
          <p:cNvSpPr/>
          <p:nvPr/>
        </p:nvSpPr>
        <p:spPr>
          <a:xfrm>
            <a:off x="1325880" y="47365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40280" y="46634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/notifications/:id/read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120640" y="466344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as read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41148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50292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502920" y="932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🔒</a:t>
            </a:r>
          </a:p>
        </p:txBody>
      </p:sp>
      <p:sp>
        <p:nvSpPr>
          <p:cNvPr id="7" name="Text 5"/>
          <p:cNvSpPr/>
          <p:nvPr/>
        </p:nvSpPr>
        <p:spPr>
          <a:xfrm>
            <a:off x="1143000" y="9326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3749040" cy="27432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bcrypt.hash(pw, 10)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9202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Plain-text passwords never stored. DB leak = no immediate exposure.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749808"/>
            <a:ext cx="41148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2" name="Shape 10"/>
          <p:cNvSpPr/>
          <p:nvPr/>
        </p:nvSpPr>
        <p:spPr>
          <a:xfrm>
            <a:off x="4892040" y="932688"/>
            <a:ext cx="50292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/>
          <p:nvPr/>
        </p:nvSpPr>
        <p:spPr>
          <a:xfrm>
            <a:off x="4892040" y="932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🔑</a:t>
            </a:r>
          </a:p>
        </p:txBody>
      </p:sp>
      <p:sp>
        <p:nvSpPr>
          <p:cNvPr id="14" name="Text 12"/>
          <p:cNvSpPr/>
          <p:nvPr/>
        </p:nvSpPr>
        <p:spPr>
          <a:xfrm>
            <a:off x="5532120" y="9326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92040" y="1554480"/>
            <a:ext cx="3749040" cy="27432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4"/>
          <p:cNvSpPr/>
          <p:nvPr/>
        </p:nvSpPr>
        <p:spPr>
          <a:xfrm>
            <a:off x="498348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expiresIn: '2h'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19202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hold { id, role }. Secret loaded from .env only.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807208"/>
            <a:ext cx="41148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9" name="Shape 17"/>
          <p:cNvSpPr/>
          <p:nvPr/>
        </p:nvSpPr>
        <p:spPr>
          <a:xfrm>
            <a:off x="502920" y="2990088"/>
            <a:ext cx="50292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Text 18"/>
          <p:cNvSpPr/>
          <p:nvPr/>
        </p:nvSpPr>
        <p:spPr>
          <a:xfrm>
            <a:off x="502920" y="2990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👤</a:t>
            </a:r>
          </a:p>
        </p:txBody>
      </p:sp>
      <p:sp>
        <p:nvSpPr>
          <p:cNvPr id="21" name="Text 19"/>
          <p:cNvSpPr/>
          <p:nvPr/>
        </p:nvSpPr>
        <p:spPr>
          <a:xfrm>
            <a:off x="1143000" y="29900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3611880"/>
            <a:ext cx="3749040" cy="27432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Text 21"/>
          <p:cNvSpPr/>
          <p:nvPr/>
        </p:nvSpPr>
        <p:spPr>
          <a:xfrm>
            <a:off x="594360" y="3611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req.user.role === 'admin'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39776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enforces rules. Frontend menu hiding is cosmetic only.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807208"/>
            <a:ext cx="41148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6" name="Shape 24"/>
          <p:cNvSpPr/>
          <p:nvPr/>
        </p:nvSpPr>
        <p:spPr>
          <a:xfrm>
            <a:off x="4892040" y="2990088"/>
            <a:ext cx="50292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7" name="Text 25"/>
          <p:cNvSpPr/>
          <p:nvPr/>
        </p:nvSpPr>
        <p:spPr>
          <a:xfrm>
            <a:off x="4892040" y="2990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🛡</a:t>
            </a:r>
          </a:p>
        </p:txBody>
      </p:sp>
      <p:sp>
        <p:nvSpPr>
          <p:cNvPr id="28" name="Text 26"/>
          <p:cNvSpPr/>
          <p:nvPr/>
        </p:nvSpPr>
        <p:spPr>
          <a:xfrm>
            <a:off x="5532120" y="29900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Prevention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92040" y="3611880"/>
            <a:ext cx="3749040" cy="27432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0" name="Text 28"/>
          <p:cNvSpPr/>
          <p:nvPr/>
        </p:nvSpPr>
        <p:spPr>
          <a:xfrm>
            <a:off x="4983480" y="3611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db.execute(sql, [values])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39776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queries use parameterised placeholders. No string concatenation.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 a Glance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hu-HU" dirty="0"/>
          </a:p>
        </p:txBody>
      </p:sp>
      <p:sp>
        <p:nvSpPr>
          <p:cNvPr id="5" name="Text 3"/>
          <p:cNvSpPr/>
          <p:nvPr/>
        </p:nvSpPr>
        <p:spPr>
          <a:xfrm>
            <a:off x="411480" y="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 a Glance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658368"/>
            <a:ext cx="1737360" cy="15544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502920" y="7315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32888" y="658368"/>
            <a:ext cx="1737360" cy="15544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/>
          <p:nvPr/>
        </p:nvSpPr>
        <p:spPr>
          <a:xfrm>
            <a:off x="2532888" y="7315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2532888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Components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62856" y="658368"/>
            <a:ext cx="1737360" cy="15544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/>
          <p:nvPr/>
        </p:nvSpPr>
        <p:spPr>
          <a:xfrm>
            <a:off x="4562856" y="7315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4562856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Route Groups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92824" y="658368"/>
            <a:ext cx="1737360" cy="15544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4"/>
          <p:cNvSpPr/>
          <p:nvPr/>
        </p:nvSpPr>
        <p:spPr>
          <a:xfrm>
            <a:off x="6592824" y="7315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6592824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377440"/>
            <a:ext cx="201168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Text 17"/>
          <p:cNvSpPr/>
          <p:nvPr/>
        </p:nvSpPr>
        <p:spPr>
          <a:xfrm>
            <a:off x="320040" y="2377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331720" y="2377440"/>
            <a:ext cx="649224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1" name="Text 19"/>
          <p:cNvSpPr/>
          <p:nvPr/>
        </p:nvSpPr>
        <p:spPr>
          <a:xfrm>
            <a:off x="2468880" y="23774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TypeScript · Vite 7 · Tailwind CSS 4 · React Router 7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889504"/>
            <a:ext cx="201168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Text 21"/>
          <p:cNvSpPr/>
          <p:nvPr/>
        </p:nvSpPr>
        <p:spPr>
          <a:xfrm>
            <a:off x="320040" y="288950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331720" y="2889504"/>
            <a:ext cx="649224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5" name="Text 23"/>
          <p:cNvSpPr/>
          <p:nvPr/>
        </p:nvSpPr>
        <p:spPr>
          <a:xfrm>
            <a:off x="2468880" y="2889504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 5 · TypeScript · WebSocket (ws)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401568"/>
            <a:ext cx="201168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7" name="Text 25"/>
          <p:cNvSpPr/>
          <p:nvPr/>
        </p:nvSpPr>
        <p:spPr>
          <a:xfrm>
            <a:off x="320040" y="34015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331720" y="3401568"/>
            <a:ext cx="649224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9" name="Text 27"/>
          <p:cNvSpPr/>
          <p:nvPr/>
        </p:nvSpPr>
        <p:spPr>
          <a:xfrm>
            <a:off x="2468880" y="340156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jsonwebtoken (2h) · bcrypt (salt 10)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3913632"/>
            <a:ext cx="201168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1" name="Text 29"/>
          <p:cNvSpPr/>
          <p:nvPr/>
        </p:nvSpPr>
        <p:spPr>
          <a:xfrm>
            <a:off x="320040" y="39136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331720" y="3913632"/>
            <a:ext cx="649224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3" name="Text 31"/>
          <p:cNvSpPr/>
          <p:nvPr/>
        </p:nvSpPr>
        <p:spPr>
          <a:xfrm>
            <a:off x="2468880" y="391363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mysql2/promise pool · Raw SQL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4425696"/>
            <a:ext cx="201168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5" name="Text 33"/>
          <p:cNvSpPr/>
          <p:nvPr/>
        </p:nvSpPr>
        <p:spPr>
          <a:xfrm>
            <a:off x="320040" y="44256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331720" y="4425696"/>
            <a:ext cx="649224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7" name="Text 35"/>
          <p:cNvSpPr/>
          <p:nvPr/>
        </p:nvSpPr>
        <p:spPr>
          <a:xfrm>
            <a:off x="2468880" y="4425696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GitHub · Discord · VS Code · nodemon · tsx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 — Cypress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92608" y="658368"/>
            <a:ext cx="3520440" cy="4343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292608" y="658368"/>
            <a:ext cx="3520440" cy="4754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3355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Frontend E2E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98648" y="768096"/>
            <a:ext cx="804672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2898648" y="76809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tests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" y="1225296"/>
            <a:ext cx="3520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Shape 8"/>
          <p:cNvSpPr/>
          <p:nvPr/>
        </p:nvSpPr>
        <p:spPr>
          <a:xfrm>
            <a:off x="420624" y="1380744"/>
            <a:ext cx="237744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420624" y="13807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" y="122529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pages navigation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10712" y="1371600"/>
            <a:ext cx="27432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2"/>
          <p:cNvSpPr/>
          <p:nvPr/>
        </p:nvSpPr>
        <p:spPr>
          <a:xfrm>
            <a:off x="3410712" y="137160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" y="1847088"/>
            <a:ext cx="3520440" cy="56692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Shape 14"/>
          <p:cNvSpPr/>
          <p:nvPr/>
        </p:nvSpPr>
        <p:spPr>
          <a:xfrm>
            <a:off x="420624" y="2002536"/>
            <a:ext cx="237744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Text 15"/>
          <p:cNvSpPr/>
          <p:nvPr/>
        </p:nvSpPr>
        <p:spPr>
          <a:xfrm>
            <a:off x="420624" y="20025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" y="184708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Registration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10712" y="1993392"/>
            <a:ext cx="27432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Text 18"/>
          <p:cNvSpPr/>
          <p:nvPr/>
        </p:nvSpPr>
        <p:spPr>
          <a:xfrm>
            <a:off x="3410712" y="19933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92608" y="2468880"/>
            <a:ext cx="3520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2" name="Shape 20"/>
          <p:cNvSpPr/>
          <p:nvPr/>
        </p:nvSpPr>
        <p:spPr>
          <a:xfrm>
            <a:off x="420624" y="2624328"/>
            <a:ext cx="237744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Text 21"/>
          <p:cNvSpPr/>
          <p:nvPr/>
        </p:nvSpPr>
        <p:spPr>
          <a:xfrm>
            <a:off x="420624" y="26243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9808" y="246888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Dashboard (auth)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10712" y="2615184"/>
            <a:ext cx="27432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6" name="Text 24"/>
          <p:cNvSpPr/>
          <p:nvPr/>
        </p:nvSpPr>
        <p:spPr>
          <a:xfrm>
            <a:off x="3410712" y="261518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2608" y="3090672"/>
            <a:ext cx="3520440" cy="56692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8" name="Shape 26"/>
          <p:cNvSpPr/>
          <p:nvPr/>
        </p:nvSpPr>
        <p:spPr>
          <a:xfrm>
            <a:off x="420624" y="3246120"/>
            <a:ext cx="237744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9" name="Text 27"/>
          <p:cNvSpPr/>
          <p:nvPr/>
        </p:nvSpPr>
        <p:spPr>
          <a:xfrm>
            <a:off x="420624" y="32461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9808" y="309067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(admin)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10712" y="3236976"/>
            <a:ext cx="27432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2" name="Text 30"/>
          <p:cNvSpPr/>
          <p:nvPr/>
        </p:nvSpPr>
        <p:spPr>
          <a:xfrm>
            <a:off x="3410712" y="323697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92608" y="3712464"/>
            <a:ext cx="3520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4" name="Shape 32"/>
          <p:cNvSpPr/>
          <p:nvPr/>
        </p:nvSpPr>
        <p:spPr>
          <a:xfrm>
            <a:off x="420624" y="3867912"/>
            <a:ext cx="237744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5" name="Text 33"/>
          <p:cNvSpPr/>
          <p:nvPr/>
        </p:nvSpPr>
        <p:spPr>
          <a:xfrm>
            <a:off x="420624" y="38679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" y="371246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&amp; Footer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410712" y="3858768"/>
            <a:ext cx="27432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8" name="Text 36"/>
          <p:cNvSpPr/>
          <p:nvPr/>
        </p:nvSpPr>
        <p:spPr>
          <a:xfrm>
            <a:off x="3410712" y="38587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92608" y="4334256"/>
            <a:ext cx="3520440" cy="56692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0" name="Shape 38"/>
          <p:cNvSpPr/>
          <p:nvPr/>
        </p:nvSpPr>
        <p:spPr>
          <a:xfrm>
            <a:off x="420624" y="4489704"/>
            <a:ext cx="237744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1" name="Text 39"/>
          <p:cNvSpPr/>
          <p:nvPr/>
        </p:nvSpPr>
        <p:spPr>
          <a:xfrm>
            <a:off x="420624" y="44897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49808" y="433425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login flow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410712" y="4480560"/>
            <a:ext cx="27432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4" name="Text 42"/>
          <p:cNvSpPr/>
          <p:nvPr/>
        </p:nvSpPr>
        <p:spPr>
          <a:xfrm>
            <a:off x="3410712" y="44805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33088" y="658368"/>
            <a:ext cx="3520440" cy="4343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46" name="Shape 44"/>
          <p:cNvSpPr/>
          <p:nvPr/>
        </p:nvSpPr>
        <p:spPr>
          <a:xfrm>
            <a:off x="4133088" y="658368"/>
            <a:ext cx="3520440" cy="4754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7" name="Text 45"/>
          <p:cNvSpPr/>
          <p:nvPr/>
        </p:nvSpPr>
        <p:spPr>
          <a:xfrm>
            <a:off x="4297680" y="658368"/>
            <a:ext cx="3355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Backend API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739128" y="768096"/>
            <a:ext cx="804672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9" name="Text 47"/>
          <p:cNvSpPr/>
          <p:nvPr/>
        </p:nvSpPr>
        <p:spPr>
          <a:xfrm>
            <a:off x="6739128" y="76809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tests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133088" y="1225296"/>
            <a:ext cx="3520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1" name="Shape 49"/>
          <p:cNvSpPr/>
          <p:nvPr/>
        </p:nvSpPr>
        <p:spPr>
          <a:xfrm>
            <a:off x="4261104" y="1380744"/>
            <a:ext cx="237744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2" name="Text 50"/>
          <p:cNvSpPr/>
          <p:nvPr/>
        </p:nvSpPr>
        <p:spPr>
          <a:xfrm>
            <a:off x="4261104" y="13807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590288" y="122529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endpoints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251192" y="1371600"/>
            <a:ext cx="27432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5" name="Text 53"/>
          <p:cNvSpPr/>
          <p:nvPr/>
        </p:nvSpPr>
        <p:spPr>
          <a:xfrm>
            <a:off x="7251192" y="137160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133088" y="1847088"/>
            <a:ext cx="3520440" cy="56692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7" name="Shape 55"/>
          <p:cNvSpPr/>
          <p:nvPr/>
        </p:nvSpPr>
        <p:spPr>
          <a:xfrm>
            <a:off x="4261104" y="2002536"/>
            <a:ext cx="237744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8" name="Text 56"/>
          <p:cNvSpPr/>
          <p:nvPr/>
        </p:nvSpPr>
        <p:spPr>
          <a:xfrm>
            <a:off x="4261104" y="20025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590288" y="184708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7251192" y="1993392"/>
            <a:ext cx="27432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1" name="Text 59"/>
          <p:cNvSpPr/>
          <p:nvPr/>
        </p:nvSpPr>
        <p:spPr>
          <a:xfrm>
            <a:off x="7251192" y="19933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133088" y="2468880"/>
            <a:ext cx="3520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3" name="Shape 61"/>
          <p:cNvSpPr/>
          <p:nvPr/>
        </p:nvSpPr>
        <p:spPr>
          <a:xfrm>
            <a:off x="4261104" y="2624328"/>
            <a:ext cx="237744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4" name="Text 62"/>
          <p:cNvSpPr/>
          <p:nvPr/>
        </p:nvSpPr>
        <p:spPr>
          <a:xfrm>
            <a:off x="4261104" y="26243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590288" y="246888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endpoints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251192" y="2615184"/>
            <a:ext cx="27432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7" name="Text 65"/>
          <p:cNvSpPr/>
          <p:nvPr/>
        </p:nvSpPr>
        <p:spPr>
          <a:xfrm>
            <a:off x="7251192" y="261518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133088" y="3090672"/>
            <a:ext cx="3520440" cy="56692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9" name="Shape 67"/>
          <p:cNvSpPr/>
          <p:nvPr/>
        </p:nvSpPr>
        <p:spPr>
          <a:xfrm>
            <a:off x="4261104" y="3246120"/>
            <a:ext cx="237744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0" name="Text 68"/>
          <p:cNvSpPr/>
          <p:nvPr/>
        </p:nvSpPr>
        <p:spPr>
          <a:xfrm>
            <a:off x="4261104" y="32461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590288" y="309067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endpoints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251192" y="3236976"/>
            <a:ext cx="27432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3" name="Text 71"/>
          <p:cNvSpPr/>
          <p:nvPr/>
        </p:nvSpPr>
        <p:spPr>
          <a:xfrm>
            <a:off x="7251192" y="323697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133088" y="3712464"/>
            <a:ext cx="3520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5" name="Shape 73"/>
          <p:cNvSpPr/>
          <p:nvPr/>
        </p:nvSpPr>
        <p:spPr>
          <a:xfrm>
            <a:off x="4261104" y="3867912"/>
            <a:ext cx="237744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6" name="Text 74"/>
          <p:cNvSpPr/>
          <p:nvPr/>
        </p:nvSpPr>
        <p:spPr>
          <a:xfrm>
            <a:off x="4261104" y="38679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4590288" y="371246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 endpoints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7251192" y="3858768"/>
            <a:ext cx="27432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9" name="Text 77"/>
          <p:cNvSpPr/>
          <p:nvPr/>
        </p:nvSpPr>
        <p:spPr>
          <a:xfrm>
            <a:off x="7251192" y="38587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4133088" y="4334256"/>
            <a:ext cx="3520440" cy="56692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1" name="Shape 79"/>
          <p:cNvSpPr/>
          <p:nvPr/>
        </p:nvSpPr>
        <p:spPr>
          <a:xfrm>
            <a:off x="4261104" y="4489704"/>
            <a:ext cx="237744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2" name="Text 80"/>
          <p:cNvSpPr/>
          <p:nvPr/>
        </p:nvSpPr>
        <p:spPr>
          <a:xfrm>
            <a:off x="4261104" y="44897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4590288" y="433425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endpoints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7251192" y="4480560"/>
            <a:ext cx="27432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5" name="Text 83"/>
          <p:cNvSpPr/>
          <p:nvPr/>
        </p:nvSpPr>
        <p:spPr>
          <a:xfrm>
            <a:off x="7251192" y="44805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7818120" y="658368"/>
            <a:ext cx="1024128" cy="475488"/>
          </a:xfrm>
          <a:prstGeom prst="rect">
            <a:avLst/>
          </a:prstGeom>
          <a:solidFill>
            <a:srgbClr val="2D9B59"/>
          </a:solidFill>
          <a:ln w="12700">
            <a:solidFill>
              <a:srgbClr val="2D9B59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7" name="Text 85"/>
          <p:cNvSpPr/>
          <p:nvPr/>
        </p:nvSpPr>
        <p:spPr>
          <a:xfrm>
            <a:off x="7818120" y="658368"/>
            <a:ext cx="1024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7818120" y="1261872"/>
            <a:ext cx="1024128" cy="9601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89" name="Text 87"/>
          <p:cNvSpPr/>
          <p:nvPr/>
        </p:nvSpPr>
        <p:spPr>
          <a:xfrm>
            <a:off x="7818120" y="1307592"/>
            <a:ext cx="1024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3600" dirty="0"/>
          </a:p>
        </p:txBody>
      </p:sp>
      <p:sp>
        <p:nvSpPr>
          <p:cNvPr id="90" name="Text 88"/>
          <p:cNvSpPr/>
          <p:nvPr/>
        </p:nvSpPr>
        <p:spPr>
          <a:xfrm>
            <a:off x="7818120" y="1792224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7818120" y="2377440"/>
            <a:ext cx="1024128" cy="9601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92" name="Text 90"/>
          <p:cNvSpPr/>
          <p:nvPr/>
        </p:nvSpPr>
        <p:spPr>
          <a:xfrm>
            <a:off x="7818120" y="2423160"/>
            <a:ext cx="1024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600" dirty="0"/>
          </a:p>
        </p:txBody>
      </p:sp>
      <p:sp>
        <p:nvSpPr>
          <p:cNvPr id="93" name="Text 91"/>
          <p:cNvSpPr/>
          <p:nvPr/>
        </p:nvSpPr>
        <p:spPr>
          <a:xfrm>
            <a:off x="7818120" y="2907792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7818120" y="3493008"/>
            <a:ext cx="1024128" cy="9601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95" name="Text 93"/>
          <p:cNvSpPr/>
          <p:nvPr/>
        </p:nvSpPr>
        <p:spPr>
          <a:xfrm>
            <a:off x="7818120" y="3538728"/>
            <a:ext cx="1024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600" dirty="0"/>
          </a:p>
        </p:txBody>
      </p:sp>
      <p:sp>
        <p:nvSpPr>
          <p:cNvPr id="96" name="Text 94"/>
          <p:cNvSpPr/>
          <p:nvPr/>
        </p:nvSpPr>
        <p:spPr>
          <a:xfrm>
            <a:off x="7818120" y="402336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8" name="Text 96"/>
          <p:cNvSpPr/>
          <p:nvPr/>
        </p:nvSpPr>
        <p:spPr>
          <a:xfrm>
            <a:off x="228600" y="481888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Auth flow tested end-to-end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2468880" y="481888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Car CRUD + unique plates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4709160" y="481888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Availability &amp; booking lifecycle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6949440" y="481888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401/403 on every protected route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28016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3" name="Shape 1"/>
          <p:cNvSpPr/>
          <p:nvPr/>
        </p:nvSpPr>
        <p:spPr>
          <a:xfrm>
            <a:off x="1405890" y="2788920"/>
            <a:ext cx="1115568" cy="310896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1405890" y="2788920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631186" y="2788920"/>
            <a:ext cx="1325880" cy="310896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2631186" y="278892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066794" y="2788920"/>
            <a:ext cx="905256" cy="310896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4066794" y="2788920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81778" y="2788920"/>
            <a:ext cx="1536192" cy="310896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/>
          <p:nvPr/>
        </p:nvSpPr>
        <p:spPr>
          <a:xfrm>
            <a:off x="5081778" y="278892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27698" y="2788920"/>
            <a:ext cx="1010412" cy="310896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6727698" y="2788920"/>
            <a:ext cx="10104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984248" y="3246120"/>
            <a:ext cx="1220724" cy="310896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2"/>
          <p:cNvSpPr/>
          <p:nvPr/>
        </p:nvSpPr>
        <p:spPr>
          <a:xfrm>
            <a:off x="1984248" y="3246120"/>
            <a:ext cx="12207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14700" y="3246120"/>
            <a:ext cx="800100" cy="310896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4"/>
          <p:cNvSpPr/>
          <p:nvPr/>
        </p:nvSpPr>
        <p:spPr>
          <a:xfrm>
            <a:off x="3314700" y="3246120"/>
            <a:ext cx="8001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24528" y="3246120"/>
            <a:ext cx="589788" cy="310896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Text 16"/>
          <p:cNvSpPr/>
          <p:nvPr/>
        </p:nvSpPr>
        <p:spPr>
          <a:xfrm>
            <a:off x="4224528" y="3246120"/>
            <a:ext cx="589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24044" y="3246120"/>
            <a:ext cx="905256" cy="310896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Text 18"/>
          <p:cNvSpPr/>
          <p:nvPr/>
        </p:nvSpPr>
        <p:spPr>
          <a:xfrm>
            <a:off x="4924044" y="3246120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39028" y="3246120"/>
            <a:ext cx="1220724" cy="310896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2" name="Text 20"/>
          <p:cNvSpPr/>
          <p:nvPr/>
        </p:nvSpPr>
        <p:spPr>
          <a:xfrm>
            <a:off x="5939028" y="3246120"/>
            <a:ext cx="12207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0" y="4389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Szikora Bálint  ·  Borsos Imre  ·  Class 13/C  ·  Supervisor: Szilasi István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87aa24f1-5ba0-4b45-9ca0-cb710780616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CF33BF45BA2D51468C049D7F49465F36" ma:contentTypeVersion="4" ma:contentTypeDescription="Új dokumentum létrehozása." ma:contentTypeScope="" ma:versionID="99230fe3e1de2d885706f7e7f862bcf2">
  <xsd:schema xmlns:xsd="http://www.w3.org/2001/XMLSchema" xmlns:xs="http://www.w3.org/2001/XMLSchema" xmlns:p="http://schemas.microsoft.com/office/2006/metadata/properties" xmlns:ns2="87aa24f1-5ba0-4b45-9ca0-cb710780616f" targetNamespace="http://schemas.microsoft.com/office/2006/metadata/properties" ma:root="true" ma:fieldsID="4c780e0772cac3b1fb0a258a91ebf9e8" ns2:_="">
    <xsd:import namespace="87aa24f1-5ba0-4b45-9ca0-cb710780616f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aa24f1-5ba0-4b45-9ca0-cb710780616f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3F967B8-B329-42F4-AC46-6119CD58262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0FB089C-AE85-4BAC-BAE4-5BFE9D0D407E}">
  <ds:schemaRefs>
    <ds:schemaRef ds:uri="http://schemas.microsoft.com/office/2006/metadata/properties"/>
    <ds:schemaRef ds:uri="http://schemas.microsoft.com/office/infopath/2007/PartnerControls"/>
    <ds:schemaRef ds:uri="87aa24f1-5ba0-4b45-9ca0-cb710780616f"/>
  </ds:schemaRefs>
</ds:datastoreItem>
</file>

<file path=customXml/itemProps3.xml><?xml version="1.0" encoding="utf-8"?>
<ds:datastoreItem xmlns:ds="http://schemas.openxmlformats.org/officeDocument/2006/customXml" ds:itemID="{B46412E7-12CE-4533-B68C-9B4F43B5AC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aa24f1-5ba0-4b45-9ca0-cb710780616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1244</Words>
  <Application>Microsoft Office PowerPoint</Application>
  <PresentationFormat>Diavetítés a képernyőre (16:9 oldalarány)</PresentationFormat>
  <Paragraphs>341</Paragraphs>
  <Slides>16</Slides>
  <Notes>14</Notes>
  <HiddenSlides>1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 Repair Shop</dc:title>
  <dc:subject>PptxGenJS Presentation</dc:subject>
  <dc:creator>Borsos Imre</dc:creator>
  <cp:lastModifiedBy>Borsos Imre</cp:lastModifiedBy>
  <cp:revision>12</cp:revision>
  <dcterms:created xsi:type="dcterms:W3CDTF">2026-03-23T21:33:26Z</dcterms:created>
  <dcterms:modified xsi:type="dcterms:W3CDTF">2026-04-17T10:14:37Z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0x010100CF33BF45BA2D51468C049D7F49465F36</vt:lpwstr>
  </property>
</Properties>
</file>